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5" r:id="rId28"/>
    <p:sldId id="284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6448-9AB4-748B-E856-686BF9EF2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E6B5C-60E3-9D77-5CB3-3343207D4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8FE8-8BCF-9787-0478-B2C7D311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E98A-0FE8-86D4-BB99-4D1DF716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B5A3E-3FA0-7D71-6167-C606C223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36CA-6A60-B618-5921-E729C3FA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2F38-1B88-A2D1-BE88-7F119E045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7E47-1A98-5AC5-DE8C-A203BA35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EDCF9-C6E6-C10E-EA40-C3ABAD75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E98C3-D04C-923E-4C6D-E2CB77BC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5166-223E-CF02-E5B2-268D9B0C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935F2-7115-DFBF-8DE1-9B7CDFED4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71F24-BBAE-6C2A-3795-9AFA2212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793ED-4550-5202-9809-36A0E077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6F8B6-040B-8E71-107D-F870BA23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F829-FC9D-FE92-6E75-626D6EE3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9602-EA6D-7E68-4148-7ABE42789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712C2-4F64-1A32-641C-593BFDEB8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FAC2D-14FB-151D-29E2-1C509881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E98AF-7338-AD6B-42B6-4315F792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AAEDD-498D-A348-A17C-BAA83EE1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9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E0F0-DFC5-456E-3423-EB79A8E7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62790-63CC-BBC5-5D8B-1531C4E8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30FB8-D1B3-9BDA-0B73-1A0C38DC1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87741-3E11-621C-1176-2321263FC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E6E3D-7D6C-69E3-262C-44FF94242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4616A-13E3-24B1-22E1-2114C86F7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50DF9-D5E6-70B6-4B2D-8EB5A1A3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24F781-CCA2-1C2C-BB37-EA826BAA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1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5278-78AF-8A2A-8E68-82561168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94027-08ED-2D8C-1A7B-EE4DD29A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08F69-0B03-CF7C-DE1C-6621BDD07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D43EF-06AB-1DDE-CEAD-E4253D09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1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8FED4-BC20-A86A-E581-DFC7F903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F5871-BA48-43A5-BB07-6AA0BAE5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23B6-7C0D-1C24-DD8F-739C5937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5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321B-CD4E-1B59-FA0C-9DC3DCA8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A67C1-5727-334E-294F-5CB142457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33F6C-FF03-38F9-D354-FD9B1774C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499B1-5E75-9FA9-C5DE-6F9DE87BC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923DC-1DA4-601F-8FDF-DF0F96F9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AFFF3-BB2B-9D04-0DF7-D5DE77D5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1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F067-4AD5-DEDC-85CF-916FEE21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5A65C-EF2E-5F72-596C-076C09995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01A9C-82C4-694C-0ADA-26B8ADC74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07350-35B1-E6EF-5A51-3731501D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7D1A8-259B-57DF-A5FA-7BEBC0C6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DE389-B51A-50D5-D03C-AF3ED1D2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8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F46E-FB5F-1A7D-AADA-35EA0C54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40F16-AF25-997E-CA9E-0A6E7DA49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55DF0-ECDA-4C5B-CBA0-A930BA9F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67614-A2D0-6D9F-2AD4-BD62B616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7B1EF-B497-1DEB-C659-45831A30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8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60043-EF4F-194F-6B5C-F73E70692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91AD2-80D4-1690-165E-7DE64A7D3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6FF6-DD5C-E6D6-9FCF-3111717E1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27F33-278F-0A3A-790D-CADDD14B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6F6A-D958-AE78-1017-C4E16908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7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ED2CF-5427-FAEA-6C72-CF4C4D26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2B4BD-D14B-E153-7D2A-CE035EF6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9962-E1D7-D0E2-1AA8-617B7598F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9F7FB-F00C-4705-8766-4898DEF6F6A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EB1B5-377F-E6C3-BCE2-488AD14BB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2135E-9276-27B7-A042-DF44AAE5D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BCE72-FA91-4291-BD1D-1406D3930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1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app.powerbi.com/view?r=eyJrIjoiYTAyNTg0MDYtNDJhZi00ZmY0LTk2N2MtMDlhNWZiMGUxMjNiIiwidCI6IjczNjVmODNhLWViY2UtNGM5ZS1iYTI2LWY5ZjM5ZmZhYTk4ZSJ9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C499FD-15C9-EA68-30A0-FB18D312C4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" y="80963"/>
            <a:ext cx="118600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118F6D-A9D7-1376-76FE-5634A10EB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Risk &amp; Claims Analysis for an Insurance Company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E600A-EAEE-A5AE-4697-49CD8FB79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039" y="3602038"/>
            <a:ext cx="9497961" cy="1655762"/>
          </a:xfrm>
        </p:spPr>
        <p:txBody>
          <a:bodyPr/>
          <a:lstStyle/>
          <a:p>
            <a:r>
              <a:rPr lang="en-US" dirty="0"/>
              <a:t>A report on the Fraud Analysis of Claims</a:t>
            </a:r>
          </a:p>
          <a:p>
            <a:r>
              <a:rPr lang="en-US" dirty="0"/>
              <a:t>from customers of an Insurance Company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863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5404-E996-2D0F-DCB9-9FB9938F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5D397-126C-DFF5-7993-35EA469B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1194" cy="4368698"/>
          </a:xfrm>
        </p:spPr>
        <p:txBody>
          <a:bodyPr>
            <a:normAutofit/>
          </a:bodyPr>
          <a:lstStyle/>
          <a:p>
            <a:r>
              <a:rPr lang="en-US" dirty="0"/>
              <a:t>This project analyzes the claims of an insurance company that is facing:</a:t>
            </a:r>
          </a:p>
          <a:p>
            <a:pPr lvl="1"/>
            <a:r>
              <a:rPr lang="en-US" dirty="0"/>
              <a:t>Increasing claim costs</a:t>
            </a:r>
          </a:p>
          <a:p>
            <a:pPr lvl="1"/>
            <a:r>
              <a:rPr lang="en-US" dirty="0"/>
              <a:t>Suspected fraudulent claims</a:t>
            </a:r>
          </a:p>
          <a:p>
            <a:pPr lvl="1"/>
            <a:r>
              <a:rPr lang="en-US" dirty="0"/>
              <a:t>Low customer retention</a:t>
            </a:r>
          </a:p>
          <a:p>
            <a:pPr lvl="1"/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tools used: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SQL (Databricks)</a:t>
            </a: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Power BI (Dashboard)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Power Point (Presentation)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02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602F-C10B-87BF-AE87-127EE6CC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3BD1-3723-4807-A3FA-A1DD2BB3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2435942" cy="485944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Customer_ID</a:t>
            </a:r>
            <a:r>
              <a:rPr lang="en-US" dirty="0"/>
              <a:t> </a:t>
            </a:r>
          </a:p>
          <a:p>
            <a:r>
              <a:rPr lang="en-US" dirty="0"/>
              <a:t>Age 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Province</a:t>
            </a:r>
          </a:p>
          <a:p>
            <a:r>
              <a:rPr lang="en-US" dirty="0" err="1"/>
              <a:t>Monthly_Income</a:t>
            </a:r>
            <a:r>
              <a:rPr lang="en-US" dirty="0"/>
              <a:t> </a:t>
            </a:r>
          </a:p>
          <a:p>
            <a:r>
              <a:rPr lang="en-US" dirty="0" err="1"/>
              <a:t>Join_Date</a:t>
            </a:r>
            <a:endParaRPr lang="en-US" dirty="0"/>
          </a:p>
          <a:p>
            <a:r>
              <a:rPr lang="en-US" dirty="0" err="1"/>
              <a:t>Policy_ID</a:t>
            </a:r>
            <a:r>
              <a:rPr lang="en-US" dirty="0"/>
              <a:t> </a:t>
            </a:r>
          </a:p>
          <a:p>
            <a:r>
              <a:rPr lang="en-US" dirty="0" err="1"/>
              <a:t>Policy_Type</a:t>
            </a:r>
            <a:endParaRPr lang="en-US" dirty="0"/>
          </a:p>
          <a:p>
            <a:r>
              <a:rPr lang="en-US" dirty="0"/>
              <a:t>Premium Amount</a:t>
            </a:r>
          </a:p>
          <a:p>
            <a:r>
              <a:rPr lang="en-US" dirty="0" err="1"/>
              <a:t>Policy_Status</a:t>
            </a:r>
            <a:endParaRPr lang="en-US" dirty="0"/>
          </a:p>
          <a:p>
            <a:r>
              <a:rPr lang="en-US" dirty="0" err="1"/>
              <a:t>Claim_ID</a:t>
            </a:r>
            <a:endParaRPr lang="en-US" dirty="0"/>
          </a:p>
          <a:p>
            <a:r>
              <a:rPr lang="en-US" dirty="0" err="1"/>
              <a:t>Claim_Date</a:t>
            </a:r>
            <a:endParaRPr lang="en-US" dirty="0"/>
          </a:p>
          <a:p>
            <a:r>
              <a:rPr lang="en-US" dirty="0" err="1"/>
              <a:t>Claim_Amount</a:t>
            </a:r>
            <a:endParaRPr lang="en-US" dirty="0"/>
          </a:p>
          <a:p>
            <a:r>
              <a:rPr lang="en-US" dirty="0" err="1"/>
              <a:t>Claim_Status</a:t>
            </a:r>
            <a:endParaRPr lang="en-US" dirty="0"/>
          </a:p>
          <a:p>
            <a:r>
              <a:rPr lang="en-US" dirty="0" err="1"/>
              <a:t>Fraud_Flag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5226C6-52E8-BAA3-842E-52EA68978405}"/>
              </a:ext>
            </a:extLst>
          </p:cNvPr>
          <p:cNvSpPr txBox="1">
            <a:spLocks/>
          </p:cNvSpPr>
          <p:nvPr/>
        </p:nvSpPr>
        <p:spPr>
          <a:xfrm>
            <a:off x="2906661" y="1524000"/>
            <a:ext cx="4407310" cy="4859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Unique customer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Customer age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Male/Female 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Province/City 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Customer income 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Date that customer joined policy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Policy identifier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Auto / Health / Life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Monthly premium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Active / Cancelled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Claim identifier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Date of claim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Amount claimed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Approved / Rejected 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Yes / No </a:t>
            </a:r>
          </a:p>
        </p:txBody>
      </p:sp>
    </p:spTree>
    <p:extLst>
      <p:ext uri="{BB962C8B-B14F-4D97-AF65-F5344CB8AC3E}">
        <p14:creationId xmlns:p14="http://schemas.microsoft.com/office/powerpoint/2010/main" val="330490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C040-DC87-AD89-43F0-43694C8CB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B68D1-3790-F90C-9BA4-1B2BB0A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09"/>
            <a:ext cx="10515600" cy="4594840"/>
          </a:xfrm>
        </p:spPr>
        <p:txBody>
          <a:bodyPr/>
          <a:lstStyle/>
          <a:p>
            <a:r>
              <a:rPr lang="en-US" dirty="0"/>
              <a:t>The insurance dataset was uploaded onto Databricks and was processed using SQL in a notebook</a:t>
            </a:r>
          </a:p>
          <a:p>
            <a:r>
              <a:rPr lang="en-US" dirty="0"/>
              <a:t>The dataset was used to create a table in a database using SQL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3ABD-0344-E339-731F-360A39995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485" y="2809837"/>
            <a:ext cx="8853211" cy="356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45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0C1D-C6FE-62AE-EBCC-B0FAEF86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3C008-C641-08EE-DBFE-FBA6DAD4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Following questions were answered in the data exploration notebook: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/>
              <a:t>Total number of customers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Total number of policies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Total number of claims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Total claim amount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Claims by policy type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Average claim amount per policy type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Number of fraud vs non-fraud claims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Top 5 highest claim amounts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Claims per location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Claims trend over time </a:t>
            </a:r>
          </a:p>
        </p:txBody>
      </p:sp>
    </p:spTree>
    <p:extLst>
      <p:ext uri="{BB962C8B-B14F-4D97-AF65-F5344CB8AC3E}">
        <p14:creationId xmlns:p14="http://schemas.microsoft.com/office/powerpoint/2010/main" val="133416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D626-EDA3-EFF6-60D5-74D12D50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number of customers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B35FB-4D22-E80C-4E8C-9DA9AC2EF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257018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616B16-0B64-CBAC-3A22-D33CA2FFA687}"/>
              </a:ext>
            </a:extLst>
          </p:cNvPr>
          <p:cNvSpPr txBox="1"/>
          <p:nvPr/>
        </p:nvSpPr>
        <p:spPr>
          <a:xfrm>
            <a:off x="838200" y="4669133"/>
            <a:ext cx="7529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Total number of customers is 518 customers </a:t>
            </a:r>
          </a:p>
        </p:txBody>
      </p:sp>
    </p:spTree>
    <p:extLst>
      <p:ext uri="{BB962C8B-B14F-4D97-AF65-F5344CB8AC3E}">
        <p14:creationId xmlns:p14="http://schemas.microsoft.com/office/powerpoint/2010/main" val="185024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6415-BF6B-9DDD-2606-9C2E4EA9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number of policies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23614C-73B3-7D6A-A327-646AAA057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3889"/>
            <a:ext cx="10515600" cy="237909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A09948-0DCA-4814-68ED-4070353F321F}"/>
              </a:ext>
            </a:extLst>
          </p:cNvPr>
          <p:cNvSpPr txBox="1"/>
          <p:nvPr/>
        </p:nvSpPr>
        <p:spPr>
          <a:xfrm>
            <a:off x="838200" y="4254877"/>
            <a:ext cx="6518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Total number of policies is 520 policies </a:t>
            </a:r>
          </a:p>
        </p:txBody>
      </p:sp>
    </p:spTree>
    <p:extLst>
      <p:ext uri="{BB962C8B-B14F-4D97-AF65-F5344CB8AC3E}">
        <p14:creationId xmlns:p14="http://schemas.microsoft.com/office/powerpoint/2010/main" val="387873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0E1C-E64C-5900-8338-A129A3E2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021E-EC1E-52F8-9CDE-83194D47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number of claims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65B742-1FA6-F4DD-D4C7-9B9AD65E2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37373"/>
            <a:ext cx="10515600" cy="219162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714EA8-915F-F78E-61BC-2CB0160070D2}"/>
              </a:ext>
            </a:extLst>
          </p:cNvPr>
          <p:cNvSpPr txBox="1"/>
          <p:nvPr/>
        </p:nvSpPr>
        <p:spPr>
          <a:xfrm>
            <a:off x="838200" y="3716473"/>
            <a:ext cx="6853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Total number of claims is 547 claims</a:t>
            </a:r>
          </a:p>
        </p:txBody>
      </p:sp>
    </p:spTree>
    <p:extLst>
      <p:ext uri="{BB962C8B-B14F-4D97-AF65-F5344CB8AC3E}">
        <p14:creationId xmlns:p14="http://schemas.microsoft.com/office/powerpoint/2010/main" val="3021951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4EF2B-3891-B0B4-3B53-C6B9C9F4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93B5-0CCA-835D-15CD-8C8B1E1E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claim amount 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C04C62-F696-61C4-E122-D7318367D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55725"/>
            <a:ext cx="10515600" cy="406668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2D5B79-65D6-99DC-FFC7-6C4DE89B68D0}"/>
              </a:ext>
            </a:extLst>
          </p:cNvPr>
          <p:cNvSpPr txBox="1"/>
          <p:nvPr/>
        </p:nvSpPr>
        <p:spPr>
          <a:xfrm>
            <a:off x="769374" y="5471442"/>
            <a:ext cx="6791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Total Claim Amount is R12 578 657.02</a:t>
            </a:r>
          </a:p>
        </p:txBody>
      </p:sp>
    </p:spTree>
    <p:extLst>
      <p:ext uri="{BB962C8B-B14F-4D97-AF65-F5344CB8AC3E}">
        <p14:creationId xmlns:p14="http://schemas.microsoft.com/office/powerpoint/2010/main" val="281017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7F44-3945-9505-805A-01AC7706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D407-067B-2BAD-BCB3-7176D39B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Claims by policy type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72587-E916-9A26-ACA7-CAB507446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9" r="3319"/>
          <a:stretch/>
        </p:blipFill>
        <p:spPr>
          <a:xfrm>
            <a:off x="4011562" y="1558383"/>
            <a:ext cx="7914968" cy="314605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8CC0A7-E1CF-0D93-E5C5-DF1CF30F4195}"/>
              </a:ext>
            </a:extLst>
          </p:cNvPr>
          <p:cNvSpPr txBox="1"/>
          <p:nvPr/>
        </p:nvSpPr>
        <p:spPr>
          <a:xfrm>
            <a:off x="838200" y="1328064"/>
            <a:ext cx="6096000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Home policy has 94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Auto policy has 128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Health policy has 134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Motor policy has 10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Life policy has 105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Funeral policy has 68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Medical policy has 5 claims</a:t>
            </a:r>
          </a:p>
          <a:p>
            <a:pPr>
              <a:lnSpc>
                <a:spcPct val="150000"/>
              </a:lnSpc>
            </a:pPr>
            <a:r>
              <a:rPr lang="en-US" dirty="0"/>
              <a:t>Property policy has 3 claims</a:t>
            </a:r>
          </a:p>
        </p:txBody>
      </p:sp>
    </p:spTree>
    <p:extLst>
      <p:ext uri="{BB962C8B-B14F-4D97-AF65-F5344CB8AC3E}">
        <p14:creationId xmlns:p14="http://schemas.microsoft.com/office/powerpoint/2010/main" val="46525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9383-543C-7E42-589F-1B5492D2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501D-A6EA-BA6E-BEB8-363D642F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claim amount per policy type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9F7F9-37CE-E263-12BF-81882A557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444" y="1610032"/>
            <a:ext cx="7206637" cy="342610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C2A3C2-737B-AEBA-CAE8-337C2FC5B736}"/>
              </a:ext>
            </a:extLst>
          </p:cNvPr>
          <p:cNvSpPr txBox="1"/>
          <p:nvPr/>
        </p:nvSpPr>
        <p:spPr>
          <a:xfrm>
            <a:off x="838200" y="1548031"/>
            <a:ext cx="3854244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Funeral policies claimed R14198.58</a:t>
            </a:r>
          </a:p>
          <a:p>
            <a:pPr>
              <a:lnSpc>
                <a:spcPct val="150000"/>
              </a:lnSpc>
            </a:pPr>
            <a:r>
              <a:rPr lang="en-US" dirty="0"/>
              <a:t>Home policies claimed R25467.26</a:t>
            </a:r>
          </a:p>
          <a:p>
            <a:pPr>
              <a:lnSpc>
                <a:spcPct val="150000"/>
              </a:lnSpc>
            </a:pPr>
            <a:r>
              <a:rPr lang="en-US" dirty="0"/>
              <a:t>Medical policies claimed R17714.30</a:t>
            </a:r>
          </a:p>
          <a:p>
            <a:pPr>
              <a:lnSpc>
                <a:spcPct val="150000"/>
              </a:lnSpc>
            </a:pPr>
            <a:r>
              <a:rPr lang="en-US" dirty="0"/>
              <a:t>Motor policies claimed R14929.18</a:t>
            </a:r>
          </a:p>
          <a:p>
            <a:pPr>
              <a:lnSpc>
                <a:spcPct val="150000"/>
              </a:lnSpc>
            </a:pPr>
            <a:r>
              <a:rPr lang="en-US" dirty="0"/>
              <a:t>Health policies claimed R12234.46</a:t>
            </a:r>
          </a:p>
          <a:p>
            <a:pPr>
              <a:lnSpc>
                <a:spcPct val="150000"/>
              </a:lnSpc>
            </a:pPr>
            <a:r>
              <a:rPr lang="en-US" dirty="0"/>
              <a:t>Life policies claimed R45518.10</a:t>
            </a:r>
          </a:p>
          <a:p>
            <a:pPr>
              <a:lnSpc>
                <a:spcPct val="150000"/>
              </a:lnSpc>
            </a:pPr>
            <a:r>
              <a:rPr lang="en-US" dirty="0"/>
              <a:t>Auto policies claimed R19049.83</a:t>
            </a:r>
          </a:p>
          <a:p>
            <a:pPr>
              <a:lnSpc>
                <a:spcPct val="150000"/>
              </a:lnSpc>
            </a:pPr>
            <a:r>
              <a:rPr lang="en-US" dirty="0"/>
              <a:t>Property policies claimed R20201.64</a:t>
            </a:r>
          </a:p>
        </p:txBody>
      </p:sp>
    </p:spTree>
    <p:extLst>
      <p:ext uri="{BB962C8B-B14F-4D97-AF65-F5344CB8AC3E}">
        <p14:creationId xmlns:p14="http://schemas.microsoft.com/office/powerpoint/2010/main" val="401946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8E61-E7CE-1EC2-3E45-B3EF1498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731E-14EC-2758-1929-517236C5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fraud vs non-fraud claims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6F0FD2-8058-029E-F603-F80D13949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832" y="1454642"/>
            <a:ext cx="4721740" cy="22225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B0432-F911-44AE-E906-AA3A7DC97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" y="3677192"/>
            <a:ext cx="8873332" cy="29680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F82CBC-C9D1-C804-5983-1E3F7968245B}"/>
              </a:ext>
            </a:extLst>
          </p:cNvPr>
          <p:cNvSpPr txBox="1"/>
          <p:nvPr/>
        </p:nvSpPr>
        <p:spPr>
          <a:xfrm>
            <a:off x="1440916" y="2016451"/>
            <a:ext cx="41733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79 fraudulent claims</a:t>
            </a:r>
          </a:p>
          <a:p>
            <a:r>
              <a:rPr lang="en-US" sz="2400" dirty="0"/>
              <a:t>471 non-fraudulent claims</a:t>
            </a:r>
          </a:p>
        </p:txBody>
      </p:sp>
    </p:spTree>
    <p:extLst>
      <p:ext uri="{BB962C8B-B14F-4D97-AF65-F5344CB8AC3E}">
        <p14:creationId xmlns:p14="http://schemas.microsoft.com/office/powerpoint/2010/main" val="3696538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EDDEB-D2E6-6766-1960-9A753A6F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D4DF-5247-5B81-8F16-FF51ED7E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Claims per location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17F14E-1F07-08B4-ABEA-C7D1BD564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049" y="1139825"/>
            <a:ext cx="5911072" cy="28330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5C3B7-FAC1-74F1-99CF-CA4955927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049" y="3972872"/>
            <a:ext cx="5911072" cy="26550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1F3935-9D61-AB9C-137E-283521968EDF}"/>
              </a:ext>
            </a:extLst>
          </p:cNvPr>
          <p:cNvSpPr txBox="1"/>
          <p:nvPr/>
        </p:nvSpPr>
        <p:spPr>
          <a:xfrm>
            <a:off x="1022552" y="2176465"/>
            <a:ext cx="40410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Gauteng has 64 claims</a:t>
            </a:r>
          </a:p>
          <a:p>
            <a:r>
              <a:rPr lang="en-US" sz="2400" dirty="0"/>
              <a:t>Limpopo has 47 claims</a:t>
            </a:r>
          </a:p>
          <a:p>
            <a:r>
              <a:rPr lang="en-US" sz="2400" dirty="0"/>
              <a:t>Eastern Cape 75 claims</a:t>
            </a:r>
          </a:p>
          <a:p>
            <a:r>
              <a:rPr lang="en-US" sz="2400" dirty="0"/>
              <a:t>North West has 72 claims</a:t>
            </a:r>
          </a:p>
          <a:p>
            <a:r>
              <a:rPr lang="en-US" sz="2400" dirty="0"/>
              <a:t>Free State has 72 claims</a:t>
            </a:r>
          </a:p>
          <a:p>
            <a:r>
              <a:rPr lang="en-US" sz="2400" dirty="0"/>
              <a:t>Mpumalanga has 55 claims</a:t>
            </a:r>
          </a:p>
          <a:p>
            <a:r>
              <a:rPr lang="en-US" sz="2400" dirty="0"/>
              <a:t>Western Cape has 75 claims</a:t>
            </a:r>
          </a:p>
          <a:p>
            <a:r>
              <a:rPr lang="en-US" sz="2400" dirty="0"/>
              <a:t>KwaZulu-Natal has 90 claims</a:t>
            </a:r>
          </a:p>
        </p:txBody>
      </p:sp>
    </p:spTree>
    <p:extLst>
      <p:ext uri="{BB962C8B-B14F-4D97-AF65-F5344CB8AC3E}">
        <p14:creationId xmlns:p14="http://schemas.microsoft.com/office/powerpoint/2010/main" val="2917871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4C65-C2CB-BF82-FBB8-43EFE350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35FC-58FA-9EA0-3C54-E4053C23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5 highest claim amounts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3DAEC9-75F9-69B0-CAF8-15347E9EA7C8}"/>
              </a:ext>
            </a:extLst>
          </p:cNvPr>
          <p:cNvSpPr txBox="1">
            <a:spLocks/>
          </p:cNvSpPr>
          <p:nvPr/>
        </p:nvSpPr>
        <p:spPr>
          <a:xfrm>
            <a:off x="838200" y="1089077"/>
            <a:ext cx="3183194" cy="50878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CUST1050 claimed R143857.60</a:t>
            </a:r>
          </a:p>
          <a:p>
            <a:r>
              <a:rPr lang="en-US" dirty="0"/>
              <a:t>CUST1324 claimed R115579.76</a:t>
            </a:r>
          </a:p>
          <a:p>
            <a:r>
              <a:rPr lang="en-US" dirty="0"/>
              <a:t>CUST1429 claimed R97527.12</a:t>
            </a:r>
          </a:p>
          <a:p>
            <a:r>
              <a:rPr lang="en-US" dirty="0"/>
              <a:t>CUST1425 claimed R92918.98</a:t>
            </a:r>
          </a:p>
          <a:p>
            <a:r>
              <a:rPr lang="en-US" dirty="0"/>
              <a:t>CUST1068 claimed R89909.74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53F13CE-E2E2-5857-296B-1F4FDE101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348" y="1089077"/>
            <a:ext cx="5690058" cy="3451583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D3687C-3D89-33EC-B753-A000E89D6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05" b="2"/>
          <a:stretch/>
        </p:blipFill>
        <p:spPr>
          <a:xfrm>
            <a:off x="5513434" y="4540660"/>
            <a:ext cx="5687972" cy="179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6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302A-8A90-6EAC-1C30-5F63D790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FC43-4FBE-DA29-4EBD-EA17186F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Claims trend over time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5C3F6A-4911-AE50-BD7F-053E45FDC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810" y="1027905"/>
            <a:ext cx="6125626" cy="28780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762A7D-4444-5FEA-785E-1403CD1CB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810" y="3905964"/>
            <a:ext cx="6125626" cy="2853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4FB7AF-0B87-3CC7-88F7-6E3A40F81A94}"/>
              </a:ext>
            </a:extLst>
          </p:cNvPr>
          <p:cNvSpPr txBox="1"/>
          <p:nvPr/>
        </p:nvSpPr>
        <p:spPr>
          <a:xfrm>
            <a:off x="943897" y="1149129"/>
            <a:ext cx="44835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Claim over time has mainly single claims with a few multiple claims on some dates.</a:t>
            </a:r>
          </a:p>
          <a:p>
            <a:endParaRPr lang="en-US" dirty="0"/>
          </a:p>
          <a:p>
            <a:r>
              <a:rPr lang="en-US" dirty="0"/>
              <a:t>Considering that there are dates with multiple claims, we could say that the claims are increasing on an upward trend overtime.</a:t>
            </a:r>
          </a:p>
        </p:txBody>
      </p:sp>
    </p:spTree>
    <p:extLst>
      <p:ext uri="{BB962C8B-B14F-4D97-AF65-F5344CB8AC3E}">
        <p14:creationId xmlns:p14="http://schemas.microsoft.com/office/powerpoint/2010/main" val="1051060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F97B-3FC0-9B09-210E-01FF76E2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D8F1-B808-AF5F-67E5-F1491432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288F3-9879-2657-8347-70BA929B3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was initially very messy, presenting issue such as: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Blank values</a:t>
            </a:r>
          </a:p>
          <a:p>
            <a:pPr lvl="1"/>
            <a:r>
              <a:rPr lang="en-US" dirty="0"/>
              <a:t>Text casing inconsistencies</a:t>
            </a:r>
          </a:p>
          <a:p>
            <a:pPr lvl="1"/>
            <a:r>
              <a:rPr lang="en-US" dirty="0"/>
              <a:t>Unnecessary spaces</a:t>
            </a:r>
          </a:p>
          <a:p>
            <a:pPr lvl="1"/>
            <a:r>
              <a:rPr lang="en-US" dirty="0"/>
              <a:t>Inconsistent date formatting</a:t>
            </a:r>
          </a:p>
          <a:p>
            <a:pPr lvl="1"/>
            <a:r>
              <a:rPr lang="en-US" dirty="0"/>
              <a:t>Inconsistent numeric formatting</a:t>
            </a:r>
          </a:p>
          <a:p>
            <a:pPr lvl="1"/>
            <a:r>
              <a:rPr lang="en-US" dirty="0"/>
              <a:t>Inconsistent data types</a:t>
            </a:r>
          </a:p>
          <a:p>
            <a:pPr lvl="1"/>
            <a:r>
              <a:rPr lang="en-US" dirty="0"/>
              <a:t>Redundant naming such as different terms with same meaning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05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3B4D7-2C68-615C-3E09-CB2DA185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BF72-2F4E-C0D6-3BFE-9576467C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78C75-AB2B-D88D-15F4-ABC75F063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999"/>
            <a:ext cx="10515600" cy="9077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dataset that was ingested on Databricks  is cleaned in a separate SQL notebook and it creates a new cleaned dataset.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A03B8-FFBD-75E1-4369-A998D68C2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2" y="2663544"/>
            <a:ext cx="7078608" cy="341742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09CAAC-A27D-1B34-F8CE-0ADCFF1B89EB}"/>
              </a:ext>
            </a:extLst>
          </p:cNvPr>
          <p:cNvSpPr txBox="1">
            <a:spLocks/>
          </p:cNvSpPr>
          <p:nvPr/>
        </p:nvSpPr>
        <p:spPr>
          <a:xfrm>
            <a:off x="838200" y="2663544"/>
            <a:ext cx="4176252" cy="984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Customer_ID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A729AC-ACA1-625E-9EA7-2885AECEBB0D}"/>
              </a:ext>
            </a:extLst>
          </p:cNvPr>
          <p:cNvSpPr txBox="1">
            <a:spLocks/>
          </p:cNvSpPr>
          <p:nvPr/>
        </p:nvSpPr>
        <p:spPr>
          <a:xfrm>
            <a:off x="838200" y="3647743"/>
            <a:ext cx="4176252" cy="15928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Gender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Replaced missing values</a:t>
            </a:r>
          </a:p>
          <a:p>
            <a:pPr lvl="1"/>
            <a:r>
              <a:rPr lang="en-US" dirty="0"/>
              <a:t>Standardized the values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4A46D7-FEA7-440F-38F7-09E2A9997646}"/>
              </a:ext>
            </a:extLst>
          </p:cNvPr>
          <p:cNvSpPr txBox="1">
            <a:spLocks/>
          </p:cNvSpPr>
          <p:nvPr/>
        </p:nvSpPr>
        <p:spPr>
          <a:xfrm>
            <a:off x="838200" y="5232720"/>
            <a:ext cx="4176252" cy="984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Age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Changed data type to INT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4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47CC-7046-41E3-AC8C-8D97C870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5A93-2E5F-36BF-D26F-C861F2BC4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Cleaning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AB246B-49CE-E4B9-D58D-3AA9B9811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99" y="1846826"/>
            <a:ext cx="7919766" cy="3780607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9E99-E20D-B718-7DEF-E054967CE10C}"/>
              </a:ext>
            </a:extLst>
          </p:cNvPr>
          <p:cNvSpPr txBox="1">
            <a:spLocks/>
          </p:cNvSpPr>
          <p:nvPr/>
        </p:nvSpPr>
        <p:spPr>
          <a:xfrm>
            <a:off x="838200" y="2828055"/>
            <a:ext cx="3232899" cy="18181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Province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Replaced missing values</a:t>
            </a:r>
          </a:p>
          <a:p>
            <a:pPr lvl="1"/>
            <a:r>
              <a:rPr lang="en-US" dirty="0"/>
              <a:t>Standardize the missing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13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00048-2EDE-C46D-5A70-72FAAD7E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DBE4-7CBB-C4AD-AB3F-070E7D72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801"/>
            <a:ext cx="10515600" cy="1205057"/>
          </a:xfrm>
        </p:spPr>
        <p:txBody>
          <a:bodyPr/>
          <a:lstStyle/>
          <a:p>
            <a:r>
              <a:rPr lang="en-US" dirty="0"/>
              <a:t>SQL Data Cleaning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24A285-7143-E52C-736D-16109D47B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076" y="2044650"/>
            <a:ext cx="6898440" cy="331513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75268-5169-CB68-BE8E-6AB0C0111100}"/>
              </a:ext>
            </a:extLst>
          </p:cNvPr>
          <p:cNvSpPr txBox="1">
            <a:spLocks/>
          </p:cNvSpPr>
          <p:nvPr/>
        </p:nvSpPr>
        <p:spPr>
          <a:xfrm>
            <a:off x="838200" y="2044650"/>
            <a:ext cx="4176252" cy="13843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Monthly_Income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Replaced missing values</a:t>
            </a:r>
          </a:p>
          <a:p>
            <a:pPr lvl="1"/>
            <a:r>
              <a:rPr lang="en-US" dirty="0"/>
              <a:t>Standardized the values</a:t>
            </a:r>
          </a:p>
          <a:p>
            <a:pPr lvl="1"/>
            <a:r>
              <a:rPr lang="en-US" dirty="0"/>
              <a:t>Change data type to DOUBLE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0469A3-25AC-9F29-DD5F-AB0AAE7D2316}"/>
              </a:ext>
            </a:extLst>
          </p:cNvPr>
          <p:cNvSpPr txBox="1">
            <a:spLocks/>
          </p:cNvSpPr>
          <p:nvPr/>
        </p:nvSpPr>
        <p:spPr>
          <a:xfrm>
            <a:off x="838200" y="3509737"/>
            <a:ext cx="4176252" cy="1120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Join_Date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Standardized the values</a:t>
            </a:r>
          </a:p>
          <a:p>
            <a:pPr lvl="1"/>
            <a:r>
              <a:rPr lang="en-US" dirty="0"/>
              <a:t>Changed data type to Date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AD5E43-E24B-1BD3-1E8C-23F464F76972}"/>
              </a:ext>
            </a:extLst>
          </p:cNvPr>
          <p:cNvSpPr txBox="1">
            <a:spLocks/>
          </p:cNvSpPr>
          <p:nvPr/>
        </p:nvSpPr>
        <p:spPr>
          <a:xfrm>
            <a:off x="838200" y="4671651"/>
            <a:ext cx="4176252" cy="5514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Policy_ID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667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42F3-D499-4A80-4368-7E73A48F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B9B3-3D8D-F131-D2A3-973C7971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Cleaning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FBDB88E-60A4-8B3A-4DF9-826FDC0F2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614" y="1965959"/>
            <a:ext cx="7003225" cy="341852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3C50-1EBF-3C72-0B22-0DAC0C8B5B6F}"/>
              </a:ext>
            </a:extLst>
          </p:cNvPr>
          <p:cNvSpPr txBox="1">
            <a:spLocks/>
          </p:cNvSpPr>
          <p:nvPr/>
        </p:nvSpPr>
        <p:spPr>
          <a:xfrm>
            <a:off x="899160" y="3230530"/>
            <a:ext cx="3733800" cy="78309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Policy_Status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Standardized the values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1911E3-BC4A-C932-EDA2-9856625756C0}"/>
              </a:ext>
            </a:extLst>
          </p:cNvPr>
          <p:cNvSpPr txBox="1">
            <a:spLocks/>
          </p:cNvSpPr>
          <p:nvPr/>
        </p:nvSpPr>
        <p:spPr>
          <a:xfrm>
            <a:off x="899160" y="1965959"/>
            <a:ext cx="3733800" cy="1216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Premium_Amount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Replaced missing values</a:t>
            </a:r>
          </a:p>
          <a:p>
            <a:pPr lvl="1"/>
            <a:r>
              <a:rPr lang="en-US" dirty="0"/>
              <a:t>Standardized the values</a:t>
            </a:r>
          </a:p>
          <a:p>
            <a:pPr lvl="1"/>
            <a:r>
              <a:rPr lang="en-US" dirty="0"/>
              <a:t>Changed data type to DOUBLE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75E78-9279-3D25-0B5A-076ED4446855}"/>
              </a:ext>
            </a:extLst>
          </p:cNvPr>
          <p:cNvSpPr txBox="1">
            <a:spLocks/>
          </p:cNvSpPr>
          <p:nvPr/>
        </p:nvSpPr>
        <p:spPr>
          <a:xfrm>
            <a:off x="899160" y="4061994"/>
            <a:ext cx="3733800" cy="7830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Claim_ID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2DD1D8-8635-BDF0-36CB-9A4298F2712C}"/>
              </a:ext>
            </a:extLst>
          </p:cNvPr>
          <p:cNvSpPr txBox="1">
            <a:spLocks/>
          </p:cNvSpPr>
          <p:nvPr/>
        </p:nvSpPr>
        <p:spPr>
          <a:xfrm>
            <a:off x="899160" y="4662532"/>
            <a:ext cx="4176252" cy="99722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Claim_Date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Standardized the values</a:t>
            </a:r>
          </a:p>
          <a:p>
            <a:pPr lvl="1"/>
            <a:r>
              <a:rPr lang="en-US" dirty="0"/>
              <a:t>Changed data type to Date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88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B7C4-4BC3-90B6-E47C-9846D840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C853AD-8E7C-B572-596B-24C858515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765" y="1995488"/>
            <a:ext cx="7239755" cy="3497047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7AE0-778E-0BA3-B5AC-729C11F3660C}"/>
              </a:ext>
            </a:extLst>
          </p:cNvPr>
          <p:cNvSpPr txBox="1">
            <a:spLocks/>
          </p:cNvSpPr>
          <p:nvPr/>
        </p:nvSpPr>
        <p:spPr>
          <a:xfrm>
            <a:off x="838200" y="1995488"/>
            <a:ext cx="3642360" cy="122348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Claim_Amount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Replaced missing values</a:t>
            </a:r>
          </a:p>
          <a:p>
            <a:pPr lvl="1"/>
            <a:r>
              <a:rPr lang="en-US" dirty="0"/>
              <a:t>Standardized the values</a:t>
            </a:r>
          </a:p>
          <a:p>
            <a:pPr lvl="1"/>
            <a:r>
              <a:rPr lang="en-US" dirty="0"/>
              <a:t>Changed data type to DOUBLE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E9C88-7EB0-A010-2B87-3971AA5B97F9}"/>
              </a:ext>
            </a:extLst>
          </p:cNvPr>
          <p:cNvSpPr txBox="1">
            <a:spLocks/>
          </p:cNvSpPr>
          <p:nvPr/>
        </p:nvSpPr>
        <p:spPr>
          <a:xfrm>
            <a:off x="838200" y="3359263"/>
            <a:ext cx="3642360" cy="889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Claim_Status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Standardized the values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E1C0E4-EDD7-10FF-9E28-263C5EFE1F05}"/>
              </a:ext>
            </a:extLst>
          </p:cNvPr>
          <p:cNvSpPr txBox="1">
            <a:spLocks/>
          </p:cNvSpPr>
          <p:nvPr/>
        </p:nvSpPr>
        <p:spPr>
          <a:xfrm>
            <a:off x="838200" y="4332929"/>
            <a:ext cx="3642360" cy="102393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Fraud_Flag</a:t>
            </a:r>
            <a:r>
              <a:rPr lang="en-US" dirty="0"/>
              <a:t> cleaning:</a:t>
            </a:r>
          </a:p>
          <a:p>
            <a:pPr lvl="1"/>
            <a:r>
              <a:rPr lang="en-US" dirty="0"/>
              <a:t>Removed unnecessary spaces</a:t>
            </a:r>
          </a:p>
          <a:p>
            <a:pPr lvl="1"/>
            <a:r>
              <a:rPr lang="en-US" dirty="0"/>
              <a:t>Standardized the values</a:t>
            </a:r>
          </a:p>
          <a:p>
            <a:pPr lvl="1"/>
            <a:r>
              <a:rPr lang="en-US" dirty="0"/>
              <a:t>Replaced missing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4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9055-B0F8-29CF-B146-6C358863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148F17-BF6B-921A-15AD-F0D921341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086" y="1926663"/>
            <a:ext cx="7784149" cy="368860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5D24D-9D5E-61DF-ACAD-4F853F52D7C9}"/>
              </a:ext>
            </a:extLst>
          </p:cNvPr>
          <p:cNvSpPr txBox="1">
            <a:spLocks/>
          </p:cNvSpPr>
          <p:nvPr/>
        </p:nvSpPr>
        <p:spPr>
          <a:xfrm>
            <a:off x="1079619" y="2673899"/>
            <a:ext cx="2849880" cy="19821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cleaned table is created and displayed with it’s appropriate data types.</a:t>
            </a:r>
          </a:p>
        </p:txBody>
      </p:sp>
    </p:spTree>
    <p:extLst>
      <p:ext uri="{BB962C8B-B14F-4D97-AF65-F5344CB8AC3E}">
        <p14:creationId xmlns:p14="http://schemas.microsoft.com/office/powerpoint/2010/main" val="1511732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C75BF-18E8-D34E-2FEF-9F6FCA53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E0AFDD-DA04-034F-2F03-66AF1246C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940" y="1690688"/>
            <a:ext cx="7537525" cy="35503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80F2D-BADD-8507-59B5-400F019A0449}"/>
              </a:ext>
            </a:extLst>
          </p:cNvPr>
          <p:cNvSpPr txBox="1">
            <a:spLocks/>
          </p:cNvSpPr>
          <p:nvPr/>
        </p:nvSpPr>
        <p:spPr>
          <a:xfrm>
            <a:off x="838200" y="2708910"/>
            <a:ext cx="3634740" cy="186309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Invalid data handling:</a:t>
            </a:r>
          </a:p>
          <a:p>
            <a:pPr lvl="1"/>
            <a:r>
              <a:rPr lang="en-US" dirty="0"/>
              <a:t>Remove data where the </a:t>
            </a:r>
            <a:r>
              <a:rPr lang="en-US" dirty="0" err="1"/>
              <a:t>Customer_ID</a:t>
            </a:r>
            <a:r>
              <a:rPr lang="en-US" dirty="0"/>
              <a:t> is blank</a:t>
            </a:r>
          </a:p>
          <a:p>
            <a:pPr lvl="1"/>
            <a:r>
              <a:rPr lang="en-US" dirty="0"/>
              <a:t>Remove data where the Age of the Customer is under 18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909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F44C-54E0-F282-43E0-6770C12E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7451-16B0-7557-0F9F-4B41F8B32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358860"/>
            <a:ext cx="10515600" cy="10853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 Power BI Dashboard was built to visualize and summarize the insights from the cleaned table dataset</a:t>
            </a:r>
          </a:p>
          <a:p>
            <a:pPr marL="0" indent="0">
              <a:buNone/>
            </a:pPr>
            <a:r>
              <a:rPr lang="en-US" dirty="0"/>
              <a:t>Dashboard Link: </a:t>
            </a:r>
            <a:r>
              <a:rPr lang="en-US" dirty="0">
                <a:hlinkClick r:id="rId2"/>
              </a:rPr>
              <a:t>https://app.powerbi.com/view?r=eyJrIjoiYTAyNTg0MDYtNDJhZi00ZmY0LTk2N2MtMDlhNWZiMGUxMjNiIiwidCI6IjczNjVmODNhLWViY2UtNGM5ZS1iYTI2LWY5ZjM5ZmZhYTk4ZSJ9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D3D391-0E0C-33ED-7217-C22026FC8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60" y="2444163"/>
            <a:ext cx="6601079" cy="38170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973BDD-ED92-DAF1-AA13-B426E872D1B7}"/>
              </a:ext>
            </a:extLst>
          </p:cNvPr>
          <p:cNvSpPr txBox="1">
            <a:spLocks/>
          </p:cNvSpPr>
          <p:nvPr/>
        </p:nvSpPr>
        <p:spPr>
          <a:xfrm>
            <a:off x="838200" y="2613781"/>
            <a:ext cx="4412226" cy="2765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Insights were drawn mainly from these questions: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- What trends do you observe?</a:t>
            </a:r>
          </a:p>
          <a:p>
            <a:pPr marL="0" indent="0">
              <a:buNone/>
            </a:pPr>
            <a:r>
              <a:rPr lang="en-US" sz="2800" dirty="0"/>
              <a:t>- Which policy type is most risky?</a:t>
            </a:r>
          </a:p>
          <a:p>
            <a:pPr marL="0" indent="0">
              <a:buNone/>
            </a:pPr>
            <a:r>
              <a:rPr lang="en-US" sz="2800" dirty="0"/>
              <a:t>- Where is fraud most common? </a:t>
            </a:r>
          </a:p>
          <a:p>
            <a:pPr marL="0" indent="0">
              <a:buNone/>
            </a:pPr>
            <a:r>
              <a:rPr lang="en-US" sz="2800" dirty="0"/>
              <a:t>- Which customers or segments are high-risk?</a:t>
            </a:r>
          </a:p>
        </p:txBody>
      </p:sp>
    </p:spTree>
    <p:extLst>
      <p:ext uri="{BB962C8B-B14F-4D97-AF65-F5344CB8AC3E}">
        <p14:creationId xmlns:p14="http://schemas.microsoft.com/office/powerpoint/2010/main" val="1557841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C568-3096-9D3F-8262-C010C0F1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844947-7EFF-3CC9-AD9E-F38AA7B30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245"/>
            <a:ext cx="4697361" cy="2580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trends do you observe?</a:t>
            </a:r>
          </a:p>
          <a:p>
            <a:pPr marL="457200" lvl="1" indent="0">
              <a:buNone/>
            </a:pPr>
            <a:r>
              <a:rPr lang="en-US" dirty="0"/>
              <a:t>Claims have been on a downward trend in general but the fraudulent claims have been increasing on an upward trend over time along with the claim amount.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A9D32-EDDD-3BFC-0260-5BB3299C1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198" y="872526"/>
            <a:ext cx="3746969" cy="17845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0D85BA-2C6B-6887-0499-680C23EE9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198" y="2706041"/>
            <a:ext cx="3746968" cy="1825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434540-5A42-7B74-79FB-4EEABAAA8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772" y="4763093"/>
            <a:ext cx="3667733" cy="1712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ABFBC-6474-62E9-A135-74D6E75E9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39" y="4712164"/>
            <a:ext cx="3667733" cy="1780711"/>
          </a:xfrm>
          <a:prstGeom prst="rect">
            <a:avLst/>
          </a:prstGeom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AB822C9A-720B-7548-5A6E-40C23E34B3D5}"/>
              </a:ext>
            </a:extLst>
          </p:cNvPr>
          <p:cNvSpPr txBox="1">
            <a:spLocks/>
          </p:cNvSpPr>
          <p:nvPr/>
        </p:nvSpPr>
        <p:spPr>
          <a:xfrm>
            <a:off x="3449266" y="4380469"/>
            <a:ext cx="2777012" cy="5271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Fraudulent Claims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75B4AAD7-2E10-3F03-6EDE-51745929F054}"/>
              </a:ext>
            </a:extLst>
          </p:cNvPr>
          <p:cNvSpPr txBox="1">
            <a:spLocks/>
          </p:cNvSpPr>
          <p:nvPr/>
        </p:nvSpPr>
        <p:spPr>
          <a:xfrm>
            <a:off x="7886611" y="592380"/>
            <a:ext cx="1881427" cy="5271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All Claims</a:t>
            </a:r>
          </a:p>
        </p:txBody>
      </p:sp>
    </p:spTree>
    <p:extLst>
      <p:ext uri="{BB962C8B-B14F-4D97-AF65-F5344CB8AC3E}">
        <p14:creationId xmlns:p14="http://schemas.microsoft.com/office/powerpoint/2010/main" val="3298686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674B-51C7-83FF-9D3D-B08BD271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9BAE-6E34-F8E2-55EF-1F89BCA5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7D7145-B68D-0B7C-43E4-90B34BBC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5120149" cy="4780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Which policy type is most risky?</a:t>
            </a:r>
          </a:p>
          <a:p>
            <a:pPr marL="457200" lvl="1" indent="0">
              <a:buNone/>
            </a:pPr>
            <a:r>
              <a:rPr lang="en-US" dirty="0"/>
              <a:t>Life policy is most risky as it has 18 claims with that being the highest claim amount of R970,90k in total, 8 of the claims being approved to the amount of R531,48k.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5A04F-1614-A881-56B1-F03384B1F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271" y="1502577"/>
            <a:ext cx="1164647" cy="2902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2C2D96-4F39-15A4-F23F-3DEA8AEFD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54" y="1502577"/>
            <a:ext cx="4669617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41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2251-F0E4-1DE3-4319-70CBCA30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2167-3D82-2089-E350-21F90D9D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AB4F7F-2A02-59A2-8C58-906FFF5C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5100485" cy="4780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Where is fraud most common? </a:t>
            </a:r>
          </a:p>
          <a:p>
            <a:pPr marL="457200" lvl="1" indent="0">
              <a:buNone/>
            </a:pPr>
            <a:r>
              <a:rPr lang="en-US" dirty="0"/>
              <a:t>Fraud is most common in KwaZulu-Natal as it has 14  fraudulent claims to the amount of R403,27k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4E089-281A-7CA6-31D3-286031DD9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684" y="1396181"/>
            <a:ext cx="5656731" cy="478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04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028C7-371C-7299-CF53-D763F5AE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1401-A02F-7934-2E43-C0D6E705A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D6788E-3955-98CA-CB4B-43F97D0C6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5975556" cy="23204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dirty="0"/>
              <a:t>Which customers or segments are high-risk?</a:t>
            </a:r>
          </a:p>
          <a:p>
            <a:pPr marL="457200" lvl="1" indent="0">
              <a:buNone/>
            </a:pPr>
            <a:r>
              <a:rPr lang="en-US" b="1" dirty="0"/>
              <a:t>High-Risk Customers</a:t>
            </a:r>
          </a:p>
          <a:p>
            <a:pPr lvl="1"/>
            <a:r>
              <a:rPr lang="en-US" dirty="0"/>
              <a:t>CUST1324 claimed 2 times to the amount of R115,58k</a:t>
            </a:r>
          </a:p>
          <a:p>
            <a:pPr lvl="1"/>
            <a:r>
              <a:rPr lang="en-US" dirty="0"/>
              <a:t>CUST1415 claimed 1 time to the amount of R80,06k</a:t>
            </a:r>
          </a:p>
          <a:p>
            <a:pPr lvl="1"/>
            <a:r>
              <a:rPr lang="en-US" dirty="0"/>
              <a:t>CUST1119 claimed 1 time to the amount of R73,93k</a:t>
            </a:r>
          </a:p>
          <a:p>
            <a:pPr lvl="1"/>
            <a:r>
              <a:rPr lang="en-US" dirty="0"/>
              <a:t>CUST1136 claimed 1 time to the amount of R70,42k</a:t>
            </a:r>
          </a:p>
          <a:p>
            <a:pPr lvl="1"/>
            <a:r>
              <a:rPr lang="en-US" dirty="0"/>
              <a:t>CUST1504 claimed 1 time to the amount of R63,46k</a:t>
            </a:r>
          </a:p>
          <a:p>
            <a:pPr lvl="1"/>
            <a:r>
              <a:rPr lang="en-US" dirty="0"/>
              <a:t>CUST1220 claimed 1 time to the amount of R61,24k</a:t>
            </a:r>
          </a:p>
          <a:p>
            <a:pPr lvl="1"/>
            <a:r>
              <a:rPr lang="en-US" dirty="0"/>
              <a:t>CUST1336 claimed 1 time to the amount of R58,79k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12C8442-9CE0-3559-3313-748E151BCF5F}"/>
              </a:ext>
            </a:extLst>
          </p:cNvPr>
          <p:cNvSpPr txBox="1">
            <a:spLocks/>
          </p:cNvSpPr>
          <p:nvPr/>
        </p:nvSpPr>
        <p:spPr>
          <a:xfrm>
            <a:off x="838199" y="4030791"/>
            <a:ext cx="6093543" cy="24620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200" b="1" dirty="0"/>
              <a:t>High-Risk Segments</a:t>
            </a:r>
          </a:p>
          <a:p>
            <a:pPr lvl="1"/>
            <a:r>
              <a:rPr lang="en-US" sz="2200" dirty="0"/>
              <a:t>Life policy has 18 claims to the amount of R970,90k</a:t>
            </a:r>
          </a:p>
          <a:p>
            <a:pPr lvl="1"/>
            <a:r>
              <a:rPr lang="en-US" sz="2200" dirty="0"/>
              <a:t>Home policy has 20 claims to the amount of R587,02k</a:t>
            </a:r>
          </a:p>
          <a:p>
            <a:pPr lvl="1"/>
            <a:r>
              <a:rPr lang="en-US" sz="2200" dirty="0"/>
              <a:t>Auto policy has 12 claims to the amount of R292,31k</a:t>
            </a:r>
          </a:p>
          <a:p>
            <a:pPr lvl="1"/>
            <a:r>
              <a:rPr lang="en-US" sz="2200" dirty="0"/>
              <a:t>Funeral policy has 15 claims to the amount of R246,40k</a:t>
            </a:r>
          </a:p>
          <a:p>
            <a:pPr lvl="1"/>
            <a:r>
              <a:rPr lang="en-US" sz="2200" dirty="0"/>
              <a:t>Health policy has 11 claims to the amount of R150,80k</a:t>
            </a:r>
          </a:p>
          <a:p>
            <a:pPr marL="457200" lvl="1" indent="0">
              <a:buNone/>
            </a:pPr>
            <a:endParaRPr lang="en-US" sz="22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E0CDD-6E95-24EF-DA17-EA5C5F07D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381" y="1500955"/>
            <a:ext cx="3963757" cy="2215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BD830E-E79A-18D2-7ACF-C19212E6C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"/>
          <a:stretch/>
        </p:blipFill>
        <p:spPr>
          <a:xfrm>
            <a:off x="7316459" y="4030791"/>
            <a:ext cx="3331973" cy="237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86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2DF3-57F6-3CDC-5618-D398AE13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A054-27A9-053E-21CD-318F858D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6811297" cy="4351338"/>
          </a:xfrm>
        </p:spPr>
        <p:txBody>
          <a:bodyPr>
            <a:normAutofit/>
          </a:bodyPr>
          <a:lstStyle/>
          <a:p>
            <a:r>
              <a:rPr lang="en-US" dirty="0"/>
              <a:t>Lower the claim amount of each high-risk segment to discourage customers from doing fraud.</a:t>
            </a:r>
          </a:p>
          <a:p>
            <a:r>
              <a:rPr lang="en-US" dirty="0"/>
              <a:t>To improve customer retention, it is best to target customers within the age range of 30 years to 50 years and to target males and females earning a monthly income of around R28k.</a:t>
            </a:r>
          </a:p>
          <a:p>
            <a:r>
              <a:rPr lang="en-US" dirty="0"/>
              <a:t>Make an adjustment to the premiums by increasing them to improve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539212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B53E-45D9-EC0D-446D-0B2D36A1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3449D-9ED2-FA64-E968-EBF1546A2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THANK YOU FOR YOUR TIME.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Author</a:t>
            </a:r>
          </a:p>
          <a:p>
            <a:pPr marL="0" indent="0">
              <a:buNone/>
            </a:pPr>
            <a:r>
              <a:rPr lang="en-US" dirty="0"/>
              <a:t>Tlale Prince Lethoko</a:t>
            </a:r>
          </a:p>
        </p:txBody>
      </p:sp>
    </p:spTree>
    <p:extLst>
      <p:ext uri="{BB962C8B-B14F-4D97-AF65-F5344CB8AC3E}">
        <p14:creationId xmlns:p14="http://schemas.microsoft.com/office/powerpoint/2010/main" val="2654307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1170</Words>
  <Application>Microsoft Office PowerPoint</Application>
  <PresentationFormat>Widescreen</PresentationFormat>
  <Paragraphs>229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Wingdings</vt:lpstr>
      <vt:lpstr>Office Theme</vt:lpstr>
      <vt:lpstr>Customer Risk &amp; Claims Analysis for an Insurance Company</vt:lpstr>
      <vt:lpstr>Project Overview &amp; Background</vt:lpstr>
      <vt:lpstr>Dataset Structure</vt:lpstr>
      <vt:lpstr>Data Exploration</vt:lpstr>
      <vt:lpstr>Data Exploration Questions</vt:lpstr>
      <vt:lpstr>Total number of customers </vt:lpstr>
      <vt:lpstr>Total number of policies  </vt:lpstr>
      <vt:lpstr>Total number of claims  </vt:lpstr>
      <vt:lpstr>Total claim amount  </vt:lpstr>
      <vt:lpstr>Claims by policy type  </vt:lpstr>
      <vt:lpstr>Average claim amount per policy type  </vt:lpstr>
      <vt:lpstr>Number of fraud vs non-fraud claims</vt:lpstr>
      <vt:lpstr>Claims per location  </vt:lpstr>
      <vt:lpstr>Top 5 highest claim amounts </vt:lpstr>
      <vt:lpstr>Claims trend over time  </vt:lpstr>
      <vt:lpstr>Data Cleaning</vt:lpstr>
      <vt:lpstr>SQL Data Cleaning</vt:lpstr>
      <vt:lpstr>SQL Data Cleaning</vt:lpstr>
      <vt:lpstr>SQL Data Cleaning</vt:lpstr>
      <vt:lpstr>SQL Data Cleaning</vt:lpstr>
      <vt:lpstr>SQL Data Cleaning</vt:lpstr>
      <vt:lpstr>SQL Data Cleaning</vt:lpstr>
      <vt:lpstr>SQL Data Cleaning</vt:lpstr>
      <vt:lpstr>Dashboard and Insights</vt:lpstr>
      <vt:lpstr>Insights</vt:lpstr>
      <vt:lpstr>Insights</vt:lpstr>
      <vt:lpstr>Insights</vt:lpstr>
      <vt:lpstr>Insights</vt:lpstr>
      <vt:lpstr>Recommendations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Tlale Lethoko</dc:creator>
  <cp:lastModifiedBy>Tlale Lethoko</cp:lastModifiedBy>
  <cp:revision>23</cp:revision>
  <dcterms:created xsi:type="dcterms:W3CDTF">2026-04-23T05:23:44Z</dcterms:created>
  <dcterms:modified xsi:type="dcterms:W3CDTF">2026-04-26T08:22:08Z</dcterms:modified>
</cp:coreProperties>
</file>